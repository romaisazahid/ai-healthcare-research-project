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92" r:id="rId5"/>
    <p:sldId id="257" r:id="rId6"/>
    <p:sldId id="294" r:id="rId7"/>
    <p:sldId id="270" r:id="rId8"/>
    <p:sldId id="271" r:id="rId9"/>
    <p:sldId id="297" r:id="rId10"/>
    <p:sldId id="298" r:id="rId11"/>
    <p:sldId id="309" r:id="rId12"/>
    <p:sldId id="272" r:id="rId13"/>
    <p:sldId id="299" r:id="rId14"/>
    <p:sldId id="300" r:id="rId15"/>
    <p:sldId id="273" r:id="rId16"/>
    <p:sldId id="305" r:id="rId17"/>
    <p:sldId id="301" r:id="rId18"/>
    <p:sldId id="296" r:id="rId19"/>
    <p:sldId id="303" r:id="rId20"/>
    <p:sldId id="302" r:id="rId21"/>
    <p:sldId id="295" r:id="rId22"/>
    <p:sldId id="276" r:id="rId23"/>
    <p:sldId id="277" r:id="rId24"/>
    <p:sldId id="306" r:id="rId25"/>
    <p:sldId id="278" r:id="rId26"/>
    <p:sldId id="267" r:id="rId27"/>
    <p:sldId id="307" r:id="rId28"/>
    <p:sldId id="308" r:id="rId29"/>
    <p:sldId id="269" r:id="rId30"/>
    <p:sldId id="304" r:id="rId31"/>
    <p:sldId id="279" r:id="rId32"/>
    <p:sldId id="280" r:id="rId33"/>
    <p:sldId id="281" r:id="rId34"/>
    <p:sldId id="282" r:id="rId35"/>
    <p:sldId id="284" r:id="rId36"/>
    <p:sldId id="285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59" autoAdjust="0"/>
    <p:restoredTop sz="94660"/>
  </p:normalViewPr>
  <p:slideViewPr>
    <p:cSldViewPr snapToGrid="0">
      <p:cViewPr varScale="1">
        <p:scale>
          <a:sx n="69" d="100"/>
          <a:sy n="69" d="100"/>
        </p:scale>
        <p:origin x="4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ea typeface="+mj-ea"/>
                <a:cs typeface="+mj-cs"/>
              </a:rPr>
              <a:t>“</a:t>
            </a:r>
            <a:endParaRPr lang="en-US" sz="12200" b="0" i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  <a:ea typeface="+mj-ea"/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ea typeface="+mj-ea"/>
                <a:cs typeface="+mj-cs"/>
              </a:rPr>
              <a:t>”</a:t>
            </a:r>
            <a:endParaRPr lang="en-US" sz="12200" b="0" i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  <a:ea typeface="+mj-ea"/>
              <a:cs typeface="+mj-cs"/>
            </a:endParaRPr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image" Target="../media/image4.png"/><Relationship Id="rId21" Type="http://schemas.openxmlformats.org/officeDocument/2006/relationships/image" Target="../media/image3.png"/><Relationship Id="rId20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1.pn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>
            <a:fillRect/>
          </a:stretch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microsoft.com/office/2007/relationships/hdphoto" Target="../media/image7.wdp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docs.google.com/forms/d/e/1FAIpQLSeo1Zu8iaUNzXONG6b9iKxKDkNgkmtrC1k5jq4HDH6zmEVLwg/viewform?usp=publish-editor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5611" y="4493202"/>
            <a:ext cx="8825658" cy="1625599"/>
          </a:xfrm>
        </p:spPr>
        <p:txBody>
          <a:bodyPr>
            <a:noAutofit/>
          </a:bodyPr>
          <a:lstStyle/>
          <a:p>
            <a:r>
              <a:rPr lang="en-US" sz="18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sz="1800" b="1" u="sng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SAMEEN NOOR              (2023-BCS-077)</a:t>
            </a:r>
            <a:endParaRPr lang="en-US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ROMAISA                         (2023-BCS-073)</a:t>
            </a:r>
            <a:endParaRPr lang="en-US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ALMAS SHAFQAT          (2023-BCS-016)</a:t>
            </a: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84502" y="692431"/>
            <a:ext cx="8571345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And Professional Practices</a:t>
            </a:r>
            <a:endParaRPr lang="en-US" sz="4000" b="1" u="sng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  <p:sp>
        <p:nvSpPr>
          <p:cNvPr id="2" name="Text Box 1"/>
          <p:cNvSpPr txBox="1"/>
          <p:nvPr/>
        </p:nvSpPr>
        <p:spPr>
          <a:xfrm>
            <a:off x="1236980" y="2106930"/>
            <a:ext cx="9043670" cy="13220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ctr"/>
            <a:r>
              <a:rPr lang="en-US" sz="4000" b="1" u="sng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Analyzing Trust And Ethical Concerns of AI in Healthcare Systems</a:t>
            </a:r>
            <a:endParaRPr lang="en-US" sz="4000" b="1" u="sng"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2" descr="Ai Healthcare technology concept with professional doctor using digital data, modern medicine, patient care, smart health system and medical innovation."/>
          <p:cNvPicPr>
            <a:picLocks noChangeAspect="1" noChangeArrowheads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8000"/>
                    </a14:imgEffect>
                    <a14:imgEffect>
                      <a14:sharpenSoften amoun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5580" y="3841998"/>
            <a:ext cx="3618343" cy="2276803"/>
          </a:xfrm>
          <a:prstGeom prst="rect">
            <a:avLst/>
          </a:prstGeom>
          <a:solidFill>
            <a:schemeClr val="accent1">
              <a:alpha val="94000"/>
            </a:schemeClr>
          </a:solidFill>
          <a:effectLst>
            <a:glow rad="228600">
              <a:schemeClr val="accent1">
                <a:satMod val="175000"/>
                <a:alpha val="47000"/>
              </a:schemeClr>
            </a:glow>
            <a:reflection blurRad="76200" stA="50000" endA="300" endPos="55500" dir="5400000" sy="-100000" algn="bl" rotWithShape="0"/>
            <a:softEdge rad="266700"/>
          </a:effectLst>
          <a:scene3d>
            <a:camera prst="orthographicFront">
              <a:rot lat="300000" lon="0" rev="0"/>
            </a:camera>
            <a:lightRig rig="threePt" dir="t"/>
          </a:scene3d>
          <a:sp3d extrusionH="76200" contourW="12700">
            <a:bevelT prst="slope"/>
            <a:bevelB prst="angle"/>
            <a:extrusionClr>
              <a:schemeClr val="tx2">
                <a:lumMod val="25000"/>
              </a:schemeClr>
            </a:extrusionClr>
            <a:contourClr>
              <a:schemeClr val="accent2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736563"/>
            <a:ext cx="9404723" cy="775718"/>
          </a:xfrm>
        </p:spPr>
        <p:txBody>
          <a:bodyPr/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047" y="1908521"/>
            <a:ext cx="9403742" cy="5190837"/>
          </a:xfrm>
        </p:spPr>
        <p:txBody>
          <a:bodyPr>
            <a:noAutofit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Background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Analysis &amp; Findings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Analysis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&amp; Regulatory Issues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&amp; Solutions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Reflection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5127" y="2270355"/>
            <a:ext cx="4757420" cy="2224405"/>
          </a:xfrm>
          <a:prstGeom prst="rect">
            <a:avLst/>
          </a:prstGeom>
          <a:effectLst>
            <a:reflection blurRad="6350" stA="50000" endA="300" endPos="55500" dist="101600" dir="5400000" sy="-100000" algn="bl" rotWithShape="0"/>
            <a:softEdge rad="127000"/>
          </a:effectLst>
          <a:scene3d>
            <a:camera prst="isometricOffAxis1Right"/>
            <a:lightRig rig="threePt" dir="t"/>
          </a:scene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931" y="714915"/>
            <a:ext cx="9404723" cy="969682"/>
          </a:xfrm>
        </p:spPr>
        <p:txBody>
          <a:bodyPr/>
          <a:lstStyle/>
          <a:p>
            <a:pPr algn="ctr"/>
            <a:r>
              <a:rPr lang="en-US" b="1" dirty="0"/>
              <a:t>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Background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4585" y="1791335"/>
            <a:ext cx="9164955" cy="4133850"/>
          </a:xfrm>
        </p:spPr>
        <p:txBody>
          <a:bodyPr>
            <a:noAutofit/>
          </a:bodyPr>
          <a:lstStyle/>
          <a:p>
            <a:pPr lvl="0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in Healthcare is being used for: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diagnosis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monitoring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recommendations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data management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Topic?</a:t>
            </a:r>
            <a:endParaRPr lang="en-US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decisions directly affect human life.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systems create ethical and trust-related concerns.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trust is necessary for AI adoption.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  <p:pic>
        <p:nvPicPr>
          <p:cNvPr id="3074" name="Picture 2" descr="AI and Machine Learning in Healthcare medicine, The future of patient care and health management illustration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6122" y="2661080"/>
            <a:ext cx="3592417" cy="2394360"/>
          </a:xfrm>
          <a:prstGeom prst="rect">
            <a:avLst/>
          </a:prstGeom>
          <a:noFill/>
          <a:effectLst>
            <a:glow rad="139700">
              <a:schemeClr val="accent1">
                <a:lumMod val="60000"/>
                <a:lumOff val="40000"/>
                <a:alpha val="52000"/>
              </a:schemeClr>
            </a:glow>
            <a:innerShdw blurRad="63500" dist="50800" dir="16200000">
              <a:prstClr val="black">
                <a:alpha val="50000"/>
              </a:prstClr>
            </a:innerShdw>
            <a:reflection blurRad="12700" stA="45000" endPos="11000" dist="50800" dir="5400000" sy="-100000" algn="bl" rotWithShape="0"/>
          </a:effectLst>
          <a:scene3d>
            <a:camera prst="isometricOffAxis1Right"/>
            <a:lightRig rig="morning" dir="t"/>
          </a:scene3d>
          <a:sp3d contourW="12700">
            <a:bevelT prst="relaxedInset"/>
            <a:bevelB prst="relaxedInset"/>
            <a:contourClr>
              <a:schemeClr val="accent1">
                <a:lumMod val="60000"/>
                <a:lumOff val="40000"/>
              </a:schemeClr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60" y="1063625"/>
            <a:ext cx="9404985" cy="967105"/>
          </a:xfrm>
        </p:spPr>
        <p:txBody>
          <a:bodyPr/>
          <a:lstStyle/>
          <a:p>
            <a:pPr algn="ctr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5705" y="1830705"/>
            <a:ext cx="9156700" cy="4195445"/>
          </a:xfrm>
        </p:spPr>
        <p:txBody>
          <a:bodyPr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Analyze public trust in use of AI in healthcare systems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Identify major ethical concerns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Apply IEEE/ACM/BCS ethical principles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Suggest safer AI solutions to build the public trust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“Although AI improves efficiency, people still fear privacy risks, wrong diagnosis, and lack of transparency.”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71" y="820383"/>
            <a:ext cx="9404723" cy="1080518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630" y="2048510"/>
            <a:ext cx="9248775" cy="4195445"/>
          </a:xfrm>
        </p:spPr>
        <p:txBody>
          <a:bodyPr>
            <a:noAutofit/>
          </a:bodyPr>
          <a:lstStyle/>
          <a:p>
            <a:pPr lvl="0" algn="just"/>
            <a:r>
              <a:rPr lang="en-US" alt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Problems Identified:</a:t>
            </a:r>
            <a:endParaRPr lang="en-US" altLang="en-US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transparency in AI decisions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diagnosis risks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in healthcare algorithms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and cybersecurity concerns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Accountability issues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Overdependence on AI systems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</a:t>
            </a:r>
            <a:endParaRPr lang="en-US" altLang="en-US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COVID-19, some AI systems produced biased or inaccurate predictions due to incomplete training data.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  <p:pic>
        <p:nvPicPr>
          <p:cNvPr id="5122" name="Picture 2" descr="AI Doesn’t Just Learn Medicine. It Learns Our Systems | Acuita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6575" y="2522538"/>
            <a:ext cx="2854325" cy="190288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innerShdw blurRad="63500" dist="25400" dir="16200000">
              <a:prstClr val="black">
                <a:alpha val="50000"/>
              </a:prstClr>
            </a:innerShdw>
          </a:effectLst>
          <a:scene3d>
            <a:camera prst="isometricOffAxis2Left"/>
            <a:lightRig rig="flood" dir="t"/>
          </a:scene3d>
          <a:sp3d extrusionH="76200" contourW="12700" prstMaterial="metal">
            <a:bevelB w="114300" prst="hardEdge"/>
            <a:extrusionClr>
              <a:schemeClr val="accent2">
                <a:lumMod val="60000"/>
                <a:lumOff val="40000"/>
              </a:schemeClr>
            </a:extrusionClr>
            <a:contourClr>
              <a:schemeClr val="accent1">
                <a:lumMod val="60000"/>
                <a:lumOff val="40000"/>
              </a:schemeClr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652108"/>
            <a:ext cx="9404723" cy="140053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Stakeholders Involved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2995" y="1842135"/>
            <a:ext cx="9502775" cy="4195445"/>
          </a:xfrm>
        </p:spPr>
        <p:txBody>
          <a:bodyPr>
            <a:normAutofit/>
          </a:bodyPr>
          <a:lstStyle/>
          <a:p>
            <a:pPr lvl="0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 &amp; Nurses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Developers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Authorities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Society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  <p:sp>
        <p:nvSpPr>
          <p:cNvPr id="5" name="Text Box 4"/>
          <p:cNvSpPr txBox="1"/>
          <p:nvPr/>
        </p:nvSpPr>
        <p:spPr>
          <a:xfrm>
            <a:off x="1311275" y="4419600"/>
            <a:ext cx="9041130" cy="1218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ct val="60000"/>
              </a:spcAft>
            </a:pPr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“Healthcare AI is not only a technical issue — it is also an ethical and social responsibility.”</a:t>
            </a:r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Healthcare - Cooperation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489" y="1927852"/>
            <a:ext cx="2729945" cy="2406031"/>
          </a:xfrm>
          <a:prstGeom prst="rect">
            <a:avLst/>
          </a:prstGeom>
          <a:noFill/>
          <a:effectLst>
            <a:outerShdw blurRad="101600" dist="50800" dir="5400000" algn="ctr" rotWithShape="0">
              <a:schemeClr val="accent1">
                <a:lumMod val="40000"/>
                <a:lumOff val="60000"/>
              </a:schemeClr>
            </a:outerShdw>
            <a:reflection stA="48000" endPos="65000" dist="88900" dir="5400000" sy="-100000" algn="bl" rotWithShape="0"/>
          </a:effectLst>
          <a:scene3d>
            <a:camera prst="isometricOffAxis2Left"/>
            <a:lightRig rig="chilly" dir="t"/>
          </a:scene3d>
          <a:sp3d contourW="12700" prstMaterial="dkEdge">
            <a:contourClr>
              <a:schemeClr val="accent2">
                <a:lumMod val="75000"/>
              </a:schemeClr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Demographics of Survey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pic>
        <p:nvPicPr>
          <p:cNvPr id="5" name="Picture 4" descr="Forms response chart. Question title: 1. What is your age group?. Number of responses: 103 responses.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700" y="1954402"/>
            <a:ext cx="7883861" cy="35116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/>
        </p:nvSpPr>
        <p:spPr>
          <a:xfrm>
            <a:off x="8736267" y="2687046"/>
            <a:ext cx="304933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participants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56.3%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or approx. 58 people) are aged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21-30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indicates a young, tech-aware demographic.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pic>
        <p:nvPicPr>
          <p:cNvPr id="3" name="Picture 2" descr="Forms response chart. Question title: 2. What is your current role?  . Number of responses: 103 responses.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298" y="1810867"/>
            <a:ext cx="8130484" cy="332455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9005454" y="2671725"/>
            <a:ext cx="287250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half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51.5%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are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followed by healthcare staff (16.5%) and patients (15.5%)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pic>
        <p:nvPicPr>
          <p:cNvPr id="3" name="Picture 2" descr="Forms response chart. Question title: 5. In your opinion, which area can AI help the most in healthcare?  . Number of responses: 103 responses.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451" y="2253616"/>
            <a:ext cx="7425894" cy="327128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2019252" y="759290"/>
            <a:ext cx="766852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Perception on AI Capabilities in Healthcare</a:t>
            </a:r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30031" y="3227538"/>
            <a:ext cx="382443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51.5% (53 respondents)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believe AI helps most across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major areas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(Diagnosis, Treatment, &amp; Data Management)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110" y="645403"/>
            <a:ext cx="9404723" cy="899321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/ Findings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630" y="1912620"/>
            <a:ext cx="9248775" cy="4673600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Trust, Transparency &amp; Privacy Analysis</a:t>
            </a:r>
            <a:endParaRPr lang="en-US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endParaRPr lang="en-US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 in AI Systems: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participants “mostly trust” AI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few completely trust AI without doctors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Concerns: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Participants want AI systems to explain decisions clearly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transparency reduces trust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pic>
        <p:nvPicPr>
          <p:cNvPr id="3" name="Picture 2" descr="Forms response chart. Question title: 7. How much do you trust AI systems to correctly diagnose a medical condition?  . Number of responses: 103 responses.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298" y="1577543"/>
            <a:ext cx="7419284" cy="330849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/>
        </p:nvSpPr>
        <p:spPr>
          <a:xfrm>
            <a:off x="8174182" y="2602684"/>
            <a:ext cx="364836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Trust is conditional: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38.8%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“Mostly trust” it, while another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38.8%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only “Somewhat trust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pic>
        <p:nvPicPr>
          <p:cNvPr id="3" name="Picture 2" descr="Forms response chart. Question title: 9. Do you think AI systems in healthcare are transparent enough in explaining how they make decisions?  . Number of responses: 103 responses.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299" y="1482291"/>
            <a:ext cx="7724082" cy="348687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8617528" y="2625562"/>
            <a:ext cx="278014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10.7%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find AI "Very Transparent." Most feel it is only "Somewhat Transparent"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43.7%).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767043"/>
            <a:ext cx="9404723" cy="140053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Analysis/Findings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5890" y="2167890"/>
            <a:ext cx="8946515" cy="3707765"/>
          </a:xfrm>
        </p:spPr>
        <p:txBody>
          <a:bodyPr>
            <a:noAutofit/>
          </a:bodyPr>
          <a:lstStyle/>
          <a:p>
            <a:pPr lvl="0" algn="just"/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Privacy &amp; Security Concerns: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Participants were worried about: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misuse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Security risks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Wrong diagnosis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Privacy breaches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0" indent="0" algn="just"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lvl="0" indent="0" algn="ctr"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“People support AI benefits, but they still want human supervision and stronger security.”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  <p:pic>
        <p:nvPicPr>
          <p:cNvPr id="7170" name="Picture 2" descr="Patient privacy and data protection in healthcare system.Secure medical record management with cyber security icons.Healthcare compliance with HIPAA and data privacy regulations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9834" y="2346975"/>
            <a:ext cx="3035097" cy="2023398"/>
          </a:xfrm>
          <a:prstGeom prst="rect">
            <a:avLst/>
          </a:prstGeom>
          <a:noFill/>
          <a:effectLst>
            <a:glow rad="101600">
              <a:schemeClr val="accent1">
                <a:lumMod val="40000"/>
                <a:lumOff val="60000"/>
                <a:alpha val="40000"/>
              </a:schemeClr>
            </a:glow>
            <a:innerShdw blurRad="63500" dist="50800">
              <a:prstClr val="black">
                <a:alpha val="50000"/>
              </a:prstClr>
            </a:innerShdw>
            <a:softEdge rad="25400"/>
          </a:effectLst>
          <a:scene3d>
            <a:camera prst="obliqueTopRigh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pic>
        <p:nvPicPr>
          <p:cNvPr id="3" name="Picture 2" descr="Forms response chart. Question title: 13. How concerned are you about your personal medical data being misused by AI systems?  . Number of responses: 103 responses.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698" y="1673706"/>
            <a:ext cx="7253029" cy="34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8109527" y="2538567"/>
            <a:ext cx="376843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massive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49.5% (51 respondents)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participants expressed that they are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Extremely Concerned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about their personal medical data being misused by AI systems.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pic>
        <p:nvPicPr>
          <p:cNvPr id="3" name="Picture 2" descr="Forms response chart. Question title: 16. How serious do you consider the risk of cyberattacks or data leakage in AI-based healthcare systems?. Number of responses: 103 responses.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81" y="1722438"/>
            <a:ext cx="7613246" cy="354228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8780048" y="2574809"/>
            <a:ext cx="279861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46.6%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(48 people) believe the risk of cyberattacks in AI healthcare is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Extremely Serious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46111" y="747358"/>
            <a:ext cx="9404723" cy="1400530"/>
          </a:xfrm>
        </p:spPr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&amp; Analysis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880745" y="1564640"/>
            <a:ext cx="9170035" cy="943610"/>
          </a:xfrm>
        </p:spPr>
        <p:txBody>
          <a:bodyPr/>
          <a:lstStyle/>
          <a:p>
            <a:pPr algn="ctr"/>
            <a:r>
              <a:rPr lang="en-US" altLang="en-US" sz="2000" b="1" u="sng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Accountability &amp; Building Trust</a:t>
            </a:r>
            <a:endParaRPr lang="en-US" altLang="en-US" sz="2000" b="1" u="sng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b="1" u="sng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1482407" y="2475230"/>
            <a:ext cx="4396339" cy="3741738"/>
          </a:xfrm>
        </p:spPr>
        <p:txBody>
          <a:bodyPr/>
          <a:lstStyle/>
          <a:p>
            <a:r>
              <a:rPr lang="en-US" altLang="en-US" b="1" u="sng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Responsibility for AI Errors</a:t>
            </a:r>
            <a:endParaRPr lang="en-US" altLang="en-US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Survey responses showed mixed opinions: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Doctors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Hospitals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 developers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Government authorities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>
          <a:xfrm>
            <a:off x="6794320" y="2475230"/>
            <a:ext cx="4396339" cy="3741738"/>
          </a:xfrm>
        </p:spPr>
        <p:txBody>
          <a:bodyPr/>
          <a:lstStyle/>
          <a:p>
            <a:r>
              <a:rPr lang="en-US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Building Trust in AI</a:t>
            </a:r>
            <a:endParaRPr lang="en-US" altLang="en-US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Participants recommended: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Regular AI testing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Better transparency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Human supervision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Government regulation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Strong cybersecurity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  <p:sp>
        <p:nvSpPr>
          <p:cNvPr id="10" name="Text Box 9"/>
          <p:cNvSpPr txBox="1"/>
          <p:nvPr/>
        </p:nvSpPr>
        <p:spPr>
          <a:xfrm>
            <a:off x="1137285" y="5576570"/>
            <a:ext cx="935990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“Trust in AI depends more on ethics and transparency than technology itself.”</a:t>
            </a:r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pic>
        <p:nvPicPr>
          <p:cNvPr id="3" name="Picture 2" descr="Forms response chart. Question title: 17. Who should be held responsible if an AI system makes a wrong medical decision that harms a patient?  . Number of responses: 103 responses.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08" y="1602364"/>
            <a:ext cx="7557827" cy="357923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8368145" y="2653345"/>
            <a:ext cx="368530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responses show split accountability: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blame AI Developers.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24.3%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blame the Doctor.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18.4%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blame the Hospital.</a:t>
            </a:r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pic>
        <p:nvPicPr>
          <p:cNvPr id="3" name="Picture 2" descr="Forms response chart. Question title: 21. What step do you think is MOST important to build trust in AI healthcare systems?  . Number of responses: 103 responses.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664" y="1392814"/>
            <a:ext cx="7502409" cy="351169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8414327" y="2179088"/>
            <a:ext cx="370378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Participants voted for: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36.9%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Regular testing for accuracy.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22.3%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Making decisions easier to understand.</a:t>
            </a:r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  <p:sp>
        <p:nvSpPr>
          <p:cNvPr id="7" name="Text Box 6"/>
          <p:cNvSpPr txBox="1"/>
          <p:nvPr/>
        </p:nvSpPr>
        <p:spPr>
          <a:xfrm>
            <a:off x="1429385" y="843280"/>
            <a:ext cx="8528050" cy="51816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ctr"/>
            <a:r>
              <a:rPr lang="en-US" sz="4200" b="1" u="sng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Key Analysis &amp; Findings</a:t>
            </a:r>
            <a:endParaRPr lang="en-US" sz="4200" b="1" u="sng"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/>
          <p:nvPr>
            <p:custDataLst>
              <p:tags r:id="rId1"/>
            </p:custDataLst>
          </p:nvPr>
        </p:nvGraphicFramePr>
        <p:xfrm>
          <a:off x="1701800" y="2146935"/>
          <a:ext cx="8650605" cy="382651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78835"/>
                <a:gridCol w="5271770"/>
              </a:tblGrid>
              <a:tr h="518160">
                <a:tc>
                  <a:txBody>
                    <a:bodyPr/>
                    <a:lstStyle/>
                    <a:p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Area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Finding</a:t>
                      </a:r>
                      <a:endParaRPr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66395">
                <a:tc>
                  <a:txBody>
                    <a:bodyPr/>
                    <a:lstStyle/>
                    <a:p>
                      <a:r>
                        <a:rPr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Trust in AI</a:t>
                      </a:r>
                      <a:endParaRPr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 participants trust AI only with doctor supervision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67030">
                <a:tc>
                  <a:txBody>
                    <a:bodyPr/>
                    <a:lstStyle/>
                    <a:p>
                      <a:r>
                        <a:rPr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Concerns</a:t>
                      </a:r>
                      <a:endParaRPr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 respondents are worried about misuse of patient data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67030">
                <a:tc>
                  <a:txBody>
                    <a:bodyPr/>
                    <a:lstStyle/>
                    <a:p>
                      <a:r>
                        <a:rPr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Transparency</a:t>
                      </a:r>
                      <a:endParaRPr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Participants want AI systems to explain decisions clearly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66395">
                <a:tc>
                  <a:txBody>
                    <a:bodyPr/>
                    <a:lstStyle/>
                    <a:p>
                      <a:r>
                        <a:rPr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Treatment</a:t>
                      </a:r>
                      <a:endParaRPr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 people prefer human confirmation before treatment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66395">
                <a:tc>
                  <a:txBody>
                    <a:bodyPr/>
                    <a:lstStyle/>
                    <a:p>
                      <a:r>
                        <a:rPr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Responsibility for Errors</a:t>
                      </a:r>
                      <a:endParaRPr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Opinions were divided between doctors, hospitals, and developers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67030">
                <a:tc>
                  <a:txBody>
                    <a:bodyPr/>
                    <a:lstStyle/>
                    <a:p>
                      <a:r>
                        <a:rPr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Building Trust</a:t>
                      </a:r>
                      <a:endParaRPr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Regular testing and monitoring were considered very important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Trust &amp; Reliability</a:t>
                      </a:r>
                      <a:endParaRPr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Respondents believed reliable and accurate AI systems increase public confidence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Professional Responsibility</a:t>
                      </a:r>
                      <a:endParaRPr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Participants believed doctors, developers, and hospitals should ensure ethical AI usage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151" y="483198"/>
            <a:ext cx="9404723" cy="140053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Analysis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  <p:sp>
        <p:nvSpPr>
          <p:cNvPr id="6" name="Text Box 5"/>
          <p:cNvSpPr txBox="1"/>
          <p:nvPr/>
        </p:nvSpPr>
        <p:spPr>
          <a:xfrm>
            <a:off x="1392555" y="1884045"/>
            <a:ext cx="9112885" cy="461391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en-US" sz="2000" b="1" u="sng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Major Ethical Dilemmas</a:t>
            </a:r>
            <a:endParaRPr lang="en-US" altLang="en-US" sz="2000" b="1" u="sng" dirty="0"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</a:endParaRPr>
          </a:p>
          <a:p>
            <a:pPr algn="l"/>
            <a:endParaRPr lang="en-US" altLang="en-US" sz="2000" b="1" u="sng" dirty="0"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en-US" b="1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Patient Privacy: </a:t>
            </a:r>
            <a:r>
              <a:rPr lang="en-US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AI systems collect sensitive healthcare data.</a:t>
            </a:r>
            <a:endParaRPr lang="en-US" altLang="en-US" dirty="0"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b="1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Incorrect Diagnosis: </a:t>
            </a:r>
            <a:r>
              <a:rPr lang="en-US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Wrong AI decisions can harm patients.</a:t>
            </a:r>
            <a:endParaRPr lang="en-US" altLang="en-US" dirty="0"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b="1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Bias &amp; Discrimination: </a:t>
            </a:r>
            <a:r>
              <a:rPr lang="en-US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Biased datasets may produce unfair healthcare outcomes.</a:t>
            </a:r>
            <a:endParaRPr lang="en-US" altLang="en-US" dirty="0"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altLang="en-US" b="1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Lack of Transparency: </a:t>
            </a:r>
            <a:r>
              <a:rPr lang="en-US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Patients may not understand AI decisions.</a:t>
            </a:r>
            <a:endParaRPr lang="en-US" altLang="en-US" dirty="0"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b="1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Overdependence on AI: </a:t>
            </a:r>
            <a:r>
              <a:rPr lang="en-US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Too much automation may reduce human judgment.</a:t>
            </a:r>
            <a:endParaRPr lang="en-US" altLang="en-US" dirty="0"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en-US" dirty="0"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</a:endParaRPr>
          </a:p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“Healthcare AI must protect human welfare, not only improve efficiency.”</a:t>
            </a:r>
            <a:endParaRPr lang="en-US" altLang="en-US" sz="2000" b="1" dirty="0"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263140" y="5461000"/>
            <a:ext cx="766635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“Ethics should be integrated into AI systems from the beginning.</a:t>
            </a:r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  <p:graphicFrame>
        <p:nvGraphicFramePr>
          <p:cNvPr id="15" name="Table 14"/>
          <p:cNvGraphicFramePr/>
          <p:nvPr>
            <p:custDataLst>
              <p:tags r:id="rId1"/>
            </p:custDataLst>
          </p:nvPr>
        </p:nvGraphicFramePr>
        <p:xfrm>
          <a:off x="979170" y="513080"/>
          <a:ext cx="9054465" cy="5181600"/>
        </p:xfrm>
        <a:graphic>
          <a:graphicData uri="http://schemas.openxmlformats.org/drawingml/2006/table">
            <a:tbl>
              <a:tblPr/>
              <a:tblGrid>
                <a:gridCol w="2359025"/>
                <a:gridCol w="3423285"/>
                <a:gridCol w="3272155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Ethical Issue</a:t>
                      </a:r>
                      <a:endParaRPr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Mapping with IEEE / ACM / BCS Codes</a:t>
                      </a:r>
                      <a:endParaRPr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Stakeholder Impact</a:t>
                      </a:r>
                      <a:endParaRPr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 Privacy &amp; Safety</a:t>
                      </a:r>
                      <a:endParaRPr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ACM: Respect Privacy, IEEE: Protect Public Welfare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Patients may lose trust in healthcare organizations.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Incorrect Diagnosis</a:t>
                      </a:r>
                      <a:endParaRPr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ACM: Avoid Harm, IEEE: Accept Responsibility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Patients can face serious health risks.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Bias and Discrimination</a:t>
                      </a:r>
                      <a:endParaRPr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ACM: Be Fair and Avoid Discrimination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Certain groups may receive unequal healthcare services.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Transparency</a:t>
                      </a:r>
                      <a:endParaRPr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IEEE: Be Honest and Transparent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Patients and doctors may not trust AI decisions.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Overdependence on AI</a:t>
                      </a:r>
                      <a:endParaRPr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BCS: Protect Public Interest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Quality of patient care may decrease.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Trust &amp; Reliability</a:t>
                      </a:r>
                      <a:endParaRPr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ACM: Maintain Trust, IEEE: Ensure System Reliability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Patients and healthcare professionals may hesitate to use AI systems.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Professional Responsibility</a:t>
                      </a:r>
                      <a:endParaRPr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IEEE: Accept Responsibility, BCS: Professional Competence and Integrity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Healthcare organizations may face legal action and loss of professional credibility.</a:t>
                      </a: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Text Box 15"/>
          <p:cNvSpPr txBox="1"/>
          <p:nvPr/>
        </p:nvSpPr>
        <p:spPr>
          <a:xfrm>
            <a:off x="653415" y="5945505"/>
            <a:ext cx="1011809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Without ethical standards, AI systems may prioritize efficiency over patient safety.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84920" y="2176284"/>
          <a:ext cx="9288582" cy="3162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194"/>
                <a:gridCol w="3096194"/>
                <a:gridCol w="3096194"/>
              </a:tblGrid>
              <a:tr h="0">
                <a:tc>
                  <a:txBody>
                    <a:bodyPr/>
                    <a:lstStyle/>
                    <a:p>
                      <a:r>
                        <a:rPr lang="en-US" sz="19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Ethical Issue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</a:t>
                      </a:r>
                      <a:r>
                        <a:rPr lang="en-US" sz="1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(IEEE/ACM/BCS)</a:t>
                      </a:r>
                      <a:endParaRPr lang="en-US" sz="190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19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Insight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ACM: Respect Privacy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49.5% are extremely concerned about misuse.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Non-Maleficence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IEEE: Protect Welfare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46.6% see cybersecurity as a critical threat.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Transparency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</a:t>
                      </a:r>
                      <a:r>
                        <a:rPr lang="en-US" sz="1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Be Honest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19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10.7% see systems as "Very Transparent."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Responsibility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BCS: Professional Integrity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kern="12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Users hold Developers (32%) accountable for errors.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662306" y="1063416"/>
            <a:ext cx="859632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Mapping (Standards)</a:t>
            </a:r>
            <a:endParaRPr lang="en-US" sz="4000" b="1" i="0" cap="all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960083"/>
            <a:ext cx="9404723" cy="140053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&amp; Societal Issues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PECA (Pakistan Electronic Crimes Act)</a:t>
            </a:r>
            <a:endParaRPr lang="en-US" altLang="en-US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Protection against cybercrime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Punishment for data misuse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GDPR</a:t>
            </a:r>
            <a:endParaRPr lang="en-US" altLang="en-US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consent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Accountability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Intellectual Property Rights (IPR)</a:t>
            </a:r>
            <a:endParaRPr lang="en-US" altLang="en-US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Protection of AI software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Protection of healthcare algorithms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GDPR concept. General Data Protection Regulation for protect the personal data and privacy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6573" y="2664478"/>
            <a:ext cx="3604166" cy="2254364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  <a:outerShdw blurRad="50800" dist="63500" dir="16200000" sx="99000" sy="99000" rotWithShape="0">
              <a:prstClr val="black">
                <a:alpha val="40000"/>
              </a:prstClr>
            </a:outerShdw>
          </a:effectLst>
          <a:scene3d>
            <a:camera prst="isometricOffAxis2Left"/>
            <a:lightRig rig="threePt" dir="t"/>
          </a:scene3d>
          <a:sp3d extrusionH="76200" contourW="12700">
            <a:bevelT prst="relaxedInset"/>
            <a:extrusionClr>
              <a:schemeClr val="accent1">
                <a:lumMod val="40000"/>
                <a:lumOff val="60000"/>
              </a:schemeClr>
            </a:extrusionClr>
            <a:contourClr>
              <a:schemeClr val="accent1">
                <a:lumMod val="60000"/>
                <a:lumOff val="40000"/>
              </a:schemeClr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30" y="785228"/>
            <a:ext cx="9404723" cy="1400530"/>
          </a:xfrm>
        </p:spPr>
        <p:txBody>
          <a:bodyPr/>
          <a:lstStyle/>
          <a:p>
            <a:pPr algn="ctr"/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Risks and Compliance Challenges</a:t>
            </a:r>
            <a:endParaRPr lang="en-US" altLang="en-US" sz="4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2995" y="1760220"/>
            <a:ext cx="8946515" cy="38163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7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Major Risks</a:t>
            </a:r>
            <a:endParaRPr lang="en-US" altLang="en-US" sz="17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Data breaches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Biased recommendations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Unsafe AI systems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Weak cybersecurity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Loss of public trust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7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Compliance Gaps</a:t>
            </a:r>
            <a:endParaRPr lang="en-US" altLang="en-US" sz="17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is growing faster than laws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Limited AI regulations in healthcare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Lack of accountability frameworks</a:t>
            </a: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430780" y="5829935"/>
            <a:ext cx="847725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“Advanced technology without ethical control can become dangerous.”</a:t>
            </a:r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pic>
        <p:nvPicPr>
          <p:cNvPr id="3" name="Picture 2" descr="Forms response chart. Question title: 14.  Do you believe AI systems in healthcare can show bias against certain groups of people?. Number of responses: 103 responses.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37" y="1318924"/>
            <a:ext cx="7604010" cy="374260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8192655" y="2376255"/>
            <a:ext cx="389774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significant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43.7% (45 respondents)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believe that AI systems in healthcare can show bias against certain groups of people, while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34% (35 respondents)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unsure (Maybe).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pic>
        <p:nvPicPr>
          <p:cNvPr id="3" name="Picture 2" descr="Forms response chart. Question title: 24. What is your biggest personal concern about AI in healthcare?  . Number of responses: 103 responses.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44" y="2168668"/>
            <a:ext cx="6846629" cy="320689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7998690" y="2802620"/>
            <a:ext cx="384232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Nearly half of the participants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49.5% / 51 respondents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identified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"All of the Above"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(Privacy, Bias, Security, and Transparency) as their biggest collective concern.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5903" y="679572"/>
            <a:ext cx="7505516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Synthesis of Major Personal Concerns</a:t>
            </a:r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525" y="882650"/>
            <a:ext cx="9404985" cy="666750"/>
          </a:xfrm>
        </p:spPr>
        <p:txBody>
          <a:bodyPr/>
          <a:lstStyle/>
          <a:p>
            <a:pPr algn="ctr"/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/ Solution</a:t>
            </a:r>
            <a:endParaRPr lang="en-US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7015" y="1923415"/>
            <a:ext cx="8946515" cy="36296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Solutions            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systems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AI testing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cybersecurity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detection systems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Legal Solutions</a:t>
            </a: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Government regulation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AI certification standards                                        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Accountability policies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“AI should support healthcare professionals, not replace them.”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805805" y="1923415"/>
            <a:ext cx="43967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Ethical Solutions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Human supervision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Ethical AI training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Fair datasets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pic>
        <p:nvPicPr>
          <p:cNvPr id="3" name="Picture 2" descr="Forms response chart. Question title: 22. Do you agree that AI should only be used as a support tool for doctors and never replace them completely?  . Number of responses: 103 responses.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35" y="1271615"/>
            <a:ext cx="7797973" cy="404852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8768503" y="2588644"/>
            <a:ext cx="316807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50.5%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(52 participants)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Strongly Agree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that AI should only be a support tool and never replace doctors completely.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844513"/>
            <a:ext cx="9404723" cy="140053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Plan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  <p:graphicFrame>
        <p:nvGraphicFramePr>
          <p:cNvPr id="8" name="Table 7"/>
          <p:cNvGraphicFramePr/>
          <p:nvPr>
            <p:custDataLst>
              <p:tags r:id="rId1"/>
            </p:custDataLst>
          </p:nvPr>
        </p:nvGraphicFramePr>
        <p:xfrm>
          <a:off x="1946910" y="2141855"/>
          <a:ext cx="7789545" cy="3653790"/>
        </p:xfrm>
        <a:graphic>
          <a:graphicData uri="http://schemas.openxmlformats.org/drawingml/2006/table">
            <a:tbl>
              <a:tblPr/>
              <a:tblGrid>
                <a:gridCol w="664210"/>
                <a:gridCol w="4173855"/>
                <a:gridCol w="2951480"/>
              </a:tblGrid>
              <a:tr h="608965">
                <a:tc>
                  <a:txBody>
                    <a:bodyPr/>
                    <a:lstStyle/>
                    <a:p>
                      <a:pPr marL="3365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Step</a:t>
                      </a:r>
                      <a:endParaRPr sz="1400" b="1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365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Action</a:t>
                      </a:r>
                      <a:endParaRPr sz="1400" b="1" dirty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365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Responsible Stakeholder</a:t>
                      </a:r>
                      <a:endParaRPr sz="1400" b="1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8965">
                <a:tc>
                  <a:txBody>
                    <a:bodyPr/>
                    <a:lstStyle/>
                    <a:p>
                      <a:pPr marL="3365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1</a:t>
                      </a:r>
                      <a:endParaRPr sz="140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365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Develop ethical AI policies</a:t>
                      </a:r>
                      <a:endParaRPr sz="140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365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Government &amp; Hospitals</a:t>
                      </a:r>
                      <a:endParaRPr sz="140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8965">
                <a:tc>
                  <a:txBody>
                    <a:bodyPr/>
                    <a:lstStyle/>
                    <a:p>
                      <a:pPr marL="3365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2</a:t>
                      </a:r>
                      <a:endParaRPr sz="140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365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Implement cybersecurity systems</a:t>
                      </a:r>
                      <a:endParaRPr sz="140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365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IT Teams</a:t>
                      </a:r>
                      <a:endParaRPr sz="140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8965">
                <a:tc>
                  <a:txBody>
                    <a:bodyPr/>
                    <a:lstStyle/>
                    <a:p>
                      <a:pPr marL="3365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3</a:t>
                      </a:r>
                      <a:endParaRPr sz="140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365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Conduct fairness and safety testing</a:t>
                      </a:r>
                      <a:endParaRPr sz="140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365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AI Developers</a:t>
                      </a:r>
                      <a:endParaRPr sz="140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8965">
                <a:tc>
                  <a:txBody>
                    <a:bodyPr/>
                    <a:lstStyle/>
                    <a:p>
                      <a:pPr marL="3365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4</a:t>
                      </a:r>
                      <a:endParaRPr sz="1400" dirty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365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Train healthcare professionals</a:t>
                      </a:r>
                      <a:endParaRPr sz="1400" dirty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365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Hospitals &amp; Universities</a:t>
                      </a:r>
                      <a:endParaRPr sz="1400" dirty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8965">
                <a:tc>
                  <a:txBody>
                    <a:bodyPr/>
                    <a:lstStyle/>
                    <a:p>
                      <a:pPr marL="3365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5</a:t>
                      </a:r>
                      <a:endParaRPr sz="140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365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Monitor AI performance regularly</a:t>
                      </a:r>
                      <a:endParaRPr sz="1400" dirty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365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Regulatory Authorities</a:t>
                      </a:r>
                      <a:endParaRPr sz="1400" dirty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5705" y="2041525"/>
            <a:ext cx="9156700" cy="4195445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  <a:endParaRPr lang="en-US" altLang="en-US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Better patient trust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Improved healthcare safety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Reduced bias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Stronger compliance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Strong Presentation Line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“Responsible AI requires balance between innovation, ethics, and human welfare.”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195705" y="792480"/>
            <a:ext cx="779462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Plan</a:t>
            </a:r>
            <a:endParaRPr lang="en-US" sz="4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886423"/>
            <a:ext cx="9404723" cy="140053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Key Takeaways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AI can improve healthcare efficiency.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Trust and ethics remain major concerns.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Human supervision is still necessary.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and privacy are critical.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  <a:endParaRPr lang="en-US" altLang="en-US" sz="18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AI development is necessary for safe and trusted healthcare systems.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“Technology should serve humanity, not replace human responsibility.”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521" y="799428"/>
            <a:ext cx="9404723" cy="140053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Reflection &amp; Learning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  <p:sp>
        <p:nvSpPr>
          <p:cNvPr id="7" name="Text Box 6"/>
          <p:cNvSpPr txBox="1"/>
          <p:nvPr/>
        </p:nvSpPr>
        <p:spPr>
          <a:xfrm>
            <a:off x="1210310" y="1976120"/>
            <a:ext cx="977138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Skills Gained</a:t>
            </a:r>
            <a:endParaRPr lang="en-US" altLang="en-US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Research skills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Survey analysis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Ethical reasoning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skills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Critical thinking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endParaRPr lang="en-US" altLang="en-US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Connecting ethics with technology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legal issues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Analyzing public trust concerns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Workplace Readiness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improved our understanding of professional responsibility and responsible technology development and  taught us that successful technology must also be ethical and trustworthy.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1063588"/>
            <a:ext cx="9404723" cy="140053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algn="just"/>
            <a:endParaRPr lang="en-US" alt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Survey Link:</a:t>
            </a:r>
            <a:endParaRPr lang="en-US" alt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https://docs.google.com/forms/d/e/1FAIpQLSeo1Zu8iaUNzXONG6b9iKxKDkNgkmtrC1k5jq4HDH6zmEVLwg/viewform?usp=publish-editor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ACM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of Ethics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Code of Ethics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BCS Code of Conduct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Sara Baase — A Gift of Fire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Deborah Johnson — Computer Ethics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Reports on AI in Healthcare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GDPR Documentation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PECA Documentation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811" y="1063588"/>
            <a:ext cx="9404723" cy="140053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947" y="2464398"/>
            <a:ext cx="8946541" cy="4195481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future of healthcare depends not only on intelligent systems, but also on ethical and trustworthy systems.”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81*296"/>
  <p:tag name="TABLE_ENDDRAG_RECT" val="112*144*681*296"/>
</p:tagLst>
</file>

<file path=ppt/tags/tag2.xml><?xml version="1.0" encoding="utf-8"?>
<p:tagLst xmlns:p="http://schemas.openxmlformats.org/presentationml/2006/main">
  <p:tag name="TABLE_ENDDRAG_ORIGIN_RECT" val="712*329"/>
  <p:tag name="TABLE_ENDDRAG_RECT" val="55*94*712*329"/>
</p:tagLst>
</file>

<file path=ppt/tags/tag3.xml><?xml version="1.0" encoding="utf-8"?>
<p:tagLst xmlns:p="http://schemas.openxmlformats.org/presentationml/2006/main">
  <p:tag name="TABLE_ENDDRAG_ORIGIN_RECT" val="613*287"/>
  <p:tag name="TABLE_ENDDRAG_RECT" val="153*136*613*287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9410</Words>
  <Application>WPS Presentation</Application>
  <PresentationFormat>Widescreen</PresentationFormat>
  <Paragraphs>502</Paragraphs>
  <Slides>34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7" baseType="lpstr">
      <vt:lpstr>Arial</vt:lpstr>
      <vt:lpstr>SimSun</vt:lpstr>
      <vt:lpstr>Wingdings</vt:lpstr>
      <vt:lpstr>Wingdings 3</vt:lpstr>
      <vt:lpstr>Symbol</vt:lpstr>
      <vt:lpstr>Arial</vt:lpstr>
      <vt:lpstr>Times New Roman</vt:lpstr>
      <vt:lpstr>Microsoft YaHei</vt:lpstr>
      <vt:lpstr>Century Gothic</vt:lpstr>
      <vt:lpstr>Arial Unicode MS</vt:lpstr>
      <vt:lpstr>Calibri</vt:lpstr>
      <vt:lpstr>Times New Roman</vt:lpstr>
      <vt:lpstr>Ion</vt:lpstr>
      <vt:lpstr>PowerPoint 演示文稿</vt:lpstr>
      <vt:lpstr>TABLE OF CONTENT</vt:lpstr>
      <vt:lpstr> Introduction &amp; Background</vt:lpstr>
      <vt:lpstr>Objectives</vt:lpstr>
      <vt:lpstr>Problem Statement</vt:lpstr>
      <vt:lpstr>Stakeholders Involved</vt:lpstr>
      <vt:lpstr>Demographics of Survey</vt:lpstr>
      <vt:lpstr>PowerPoint 演示文稿</vt:lpstr>
      <vt:lpstr>PowerPoint 演示文稿</vt:lpstr>
      <vt:lpstr>Key Analysis / Findings</vt:lpstr>
      <vt:lpstr>PowerPoint 演示文稿</vt:lpstr>
      <vt:lpstr>PowerPoint 演示文稿</vt:lpstr>
      <vt:lpstr>Key Analysis/Findings</vt:lpstr>
      <vt:lpstr>PowerPoint 演示文稿</vt:lpstr>
      <vt:lpstr>PowerPoint 演示文稿</vt:lpstr>
      <vt:lpstr>Key Findings &amp; Analysis</vt:lpstr>
      <vt:lpstr>PowerPoint 演示文稿</vt:lpstr>
      <vt:lpstr>PowerPoint 演示文稿</vt:lpstr>
      <vt:lpstr>PowerPoint 演示文稿</vt:lpstr>
      <vt:lpstr>Ethical Analysis</vt:lpstr>
      <vt:lpstr>PowerPoint 演示文稿</vt:lpstr>
      <vt:lpstr>PowerPoint 演示文稿</vt:lpstr>
      <vt:lpstr>Legal &amp; Societal Issues</vt:lpstr>
      <vt:lpstr>Risks and Compliance Challenges</vt:lpstr>
      <vt:lpstr>PowerPoint 演示文稿</vt:lpstr>
      <vt:lpstr>PowerPoint 演示文稿</vt:lpstr>
      <vt:lpstr>Recommendations / Solution</vt:lpstr>
      <vt:lpstr>PowerPoint 演示文稿</vt:lpstr>
      <vt:lpstr>Implementation Plan </vt:lpstr>
      <vt:lpstr>PowerPoint 演示文稿</vt:lpstr>
      <vt:lpstr>Conclusion &amp; Key Takeaways</vt:lpstr>
      <vt:lpstr>Personal Reflection &amp; Learning</vt:lpstr>
      <vt:lpstr>References</vt:lpstr>
      <vt:lpstr>Thank You</vt:lpstr>
    </vt:vector>
  </TitlesOfParts>
  <Company>MRT www.Win2Farsi.com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zara</dc:creator>
  <cp:lastModifiedBy>WPS_1779213484</cp:lastModifiedBy>
  <cp:revision>26</cp:revision>
  <dcterms:created xsi:type="dcterms:W3CDTF">2026-04-27T16:13:00Z</dcterms:created>
  <dcterms:modified xsi:type="dcterms:W3CDTF">2026-05-20T17:43:54Z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C3A119652BD24E4DA58723EEFA625998_13</vt:lpwstr>
  </property>
</Properties>
</file>